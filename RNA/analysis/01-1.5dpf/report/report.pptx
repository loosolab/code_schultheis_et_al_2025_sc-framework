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3" r:id="rId1"/>
  </p:sldMasterIdLst>
  <p:notesMasterIdLst>
    <p:notesMasterId r:id="rId7"/>
  </p:notesMasterIdLst>
  <p:sldIdLst>
    <p:sldId id="256" r:id="rId2"/>
    <p:sldId id="257" r:id="rId3"/>
    <p:sldId id="258" r:id="rId4"/>
    <p:sldId id="260" r:id="rId5"/>
    <p:sldId id="259" r:id="rId6"/>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5AA5"/>
    <a:srgbClr val="F2F2F2"/>
    <a:srgbClr val="005DA2"/>
    <a:srgbClr val="005D9E"/>
    <a:srgbClr val="0060A8"/>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p:cViewPr varScale="1">
        <p:scale>
          <a:sx n="101" d="100"/>
          <a:sy n="101" d="100"/>
        </p:scale>
        <p:origin x="1086" y="108"/>
      </p:cViewPr>
      <p:guideLst>
        <p:guide orient="horz" pos="2160"/>
        <p:guide pos="384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76" d="100"/>
          <a:sy n="76" d="100"/>
        </p:scale>
        <p:origin x="2918" y="7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8D5E74-D77C-4BB7-BEDA-D31AC3E28CAC}" type="datetimeFigureOut">
              <a:rPr lang="en-US" smtClean="0"/>
              <a:t>11/19/2025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A07C4-18B2-45A6-B730-9F4E335F8998}" type="slidenum">
              <a:rPr lang="en-US" smtClean="0"/>
              <a:t>‹#›</a:t>
            </a:fld>
            <a:endParaRPr lang="en-US" dirty="0"/>
          </a:p>
        </p:txBody>
      </p:sp>
    </p:spTree>
    <p:extLst>
      <p:ext uri="{BB962C8B-B14F-4D97-AF65-F5344CB8AC3E}">
        <p14:creationId xmlns:p14="http://schemas.microsoft.com/office/powerpoint/2010/main" val="4026180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dataset may be constructed from multiple parts (samples, sequenceing batches, etc.). The first table shows the individual parts and their location from which the dataset is constructed.</a:t>
            </a:r>
          </a:p>
          <a:p/>
          <a:p/>
          <a:p>
            <a:r>
              <a:t>The text provides a short overview of the dataset dimensions and available information. In a typical scRNA experiment each observation translates to a cell and each variable to a gene. This means that observation information contains information about each cell, e.g. the timepoint a cell belongs to. Likewise, provides variable information details about individual genes, for example how many cells had expression of a certain gene.</a:t>
            </a:r>
          </a:p>
          <a:p>
            <a:r>
              <a:t>Datasets can contain additional layers, i.e. data matrixes, such as raw expression or normalized expression values.The last two tables show a detailed view on the observation (obs) and variable (var) of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gender of each sample is predicted based on the expression of a female gene. Female samples are shown with a red background.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Low quality cells are removed from the dataset by applying thresholds to quality metrics. This is either done using global thresholds or thresholds for each individual sample.</a:t>
            </a:r>
          </a:p>
          <a:p/>
          <a:p/>
          <a:p>
            <a:r>
              <a:t>Common quality metrics:</a:t>
            </a:r>
          </a:p>
          <a:p>
            <a:r>
              <a:t>n_genes:			The number of genes associated with a barcode (cell).</a:t>
            </a:r>
          </a:p>
          <a:p>
            <a:r>
              <a:t>total_counts:			The total amount of reads detected for this barcode (cell).</a:t>
            </a:r>
          </a:p>
          <a:p>
            <a:r>
              <a:t>log1p_total_counts:		Same as above but on a logarithmic scale.</a:t>
            </a:r>
          </a:p>
          <a:p>
            <a:r>
              <a:t>total_counts_is_mito:		The total amount of reads associated with mitochondrial genes.</a:t>
            </a:r>
          </a:p>
          <a:p>
            <a:r>
              <a:t>log1p_total_counts_is_mito:		Same as above but on a logarithmic scale.</a:t>
            </a:r>
          </a:p>
          <a:p>
            <a:r>
              <a:t>pct_counts_is_mito:		Percentage of mitochondrial reads per barcode (cell).</a:t>
            </a:r>
          </a:p>
          <a:p>
            <a:r>
              <a:t>total_counts_is_ribo:		The total amount of reads associated with ribosomal genes.</a:t>
            </a:r>
          </a:p>
          <a:p>
            <a:r>
              <a:t>log1p_total_counts_is_ribo:		Same as above but on a logarithmic scale.</a:t>
            </a:r>
          </a:p>
          <a:p>
            <a:r>
              <a:t>pct_counts_is_ribo:		Percentage of ribosomal reads per barcode (cell).</a:t>
            </a:r>
          </a:p>
          <a:p>
            <a:r>
              <a:t>total_counts_is_gender:		The total amount of reads associated with gender genes.</a:t>
            </a:r>
          </a:p>
          <a:p>
            <a:r>
              <a:t>log1p_total_counts_is_gender:	Same as above but on a logarithmic scale.</a:t>
            </a:r>
          </a:p>
          <a:p>
            <a:r>
              <a:t>pct_counts_is_gender:		Percentage of gender related reads per barcode (cell).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provides a pairwise view of the quality metrics, their distributions, and the respective thresholds.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UpSetPlot provides the impact each threshold has on the dataset. This is shown for each metric alone and in combination with other metrics to estimate the overlap between the filters.</a:t>
            </a:r>
          </a:p>
          <a:p>
            <a:r>
              <a:t>The final amount of filtered cells is given in the text.</a:t>
            </a:r>
          </a:p>
          <a:p>
            <a:r>
              <a:t>The dataset may also be filtered for doublets, observations that contain more than one cell, to avoid skewing the following analysis.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Similar to cell filtering, genes may also be removed from the dataset with the aid of quality metrics.</a:t>
            </a:r>
          </a:p>
          <a:p/>
          <a:p/>
          <a:p>
            <a:r>
              <a:t>Common quality metrics:</a:t>
            </a:r>
          </a:p>
          <a:p>
            <a:r>
              <a:t>n_cells_by_counts:	The number of cells that contain reads associated with the gene.</a:t>
            </a:r>
          </a:p>
          <a:p>
            <a:r>
              <a:t>mean_counts:		The mean amount of reads over all cells.</a:t>
            </a:r>
          </a:p>
          <a:p>
            <a:r>
              <a:t>log1p_mean_counts:	Same as above but on a logarithmic scale.</a:t>
            </a:r>
          </a:p>
          <a:p>
            <a:r>
              <a:t>pct_dropout_by_counts:	Percentage of cells this gene does not appear in.</a:t>
            </a:r>
          </a:p>
          <a:p>
            <a:r>
              <a:t>total_counts:		The total amount of reads associated to this gene.</a:t>
            </a:r>
          </a:p>
          <a:p>
            <a:r>
              <a:t>log1p_total_counts:	Same as above but on a logarithmic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Genes are categorized into mitochondrial, ribosomal or gender related. This is either based on a list of genes or a search string e.g. genes starting with 'mt' for mitochondrial genes. Genes related to mitochondrial, ribosomal or gender functions are optionally filtered from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 cycle phase of each cell is predicted based on the activity of known cell cycle genes. The plot shows the distribution of cell cycle phases across the samples.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principle component analysis (PCA) is computed to reduce the dimensionality by reorganizing the data into principle components (PCs). The plot shows the first two PCs with each dot (cell) colored for quality metrics.</a:t>
            </a:r>
          </a:p>
          <a:p>
            <a:r>
              <a:t>There should be no gradient or grouping visible to provide a clean biological signal.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principle component (PC) is evaluated based on its correlation to quality metrics and variance. PCs exceeding one of the two thresholds are filtered from the dataset, indicated as a lightgrey bar.</a:t>
            </a:r>
          </a:p>
          <a:p>
            <a:r>
              <a:t>Removing PCs helps to reduce technical or other unwanted noise to create a clean biological signal.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correction aims to reduce technical differences in the dataset. For example, two separate sequencing runs may show as two distinct groups despite being biologically similar. There are multiple batch correction methods available with different concepts causing them to perform differently for each dataset. The plot compares multiple batch correction methods (columns) to select the optimal one for the dataset.</a:t>
            </a:r>
          </a:p>
          <a:p>
            <a:r>
              <a:t>The plot shows PCAs and preliminary UMAPs to assess how well the batches are mixed after batch correction. The bottom plots show the LISI score, a measurement for the 'mixedness' of the batches (maximum = number of batches). A high LISI is not a sufficient indicator, the PCA and UMAP shapes should be included into the consideration as well.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dimension reduction step is to compute a 2D embedding of the dataset. This can either be a Uniform Manifold Approximation and Projection (UMAP) or distributed stochastic neighbor embedding (t-SNE).</a:t>
            </a:r>
          </a:p>
          <a:p>
            <a:r>
              <a:t>Both methods rely on two main parameters to compute the respective embedding, which are shown in the table. The plot shows the embedding colored for various quality measurements. Ideally, there shouldn't be a gradient or grouping visible, unless expected through the experimental design.</a:t>
            </a:r>
          </a:p>
          <a:p>
            <a:r>
              <a:t>Note: Dot = Cell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shows how the cells for each sample/ condition are distributed across the dataset.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embedding colored for sample/ condition (left) and cells assigned to clusters (right). Clustering is typically done using the leiden algorithm.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number of cells per clusters is shown. The color shows the proportion of cells assigned to samples/ conditions.</a:t>
            </a:r>
          </a:p>
          <a:p>
            <a:r>
              <a:t>Small clusters or clusters predominantly from one sample/ condition may be outliers or part of a bigger cluster, as such, they may be removed or combined with another cluster. However, this is tied to the expectations of the individual dataset and must be decided on a case-by-case basis.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marker genes for each group, e.g. a clustering or cell types, presented in heatmap and dotplot style.</a:t>
            </a:r>
          </a:p>
          <a:p>
            <a:r>
              <a:t>Good quality marker genes are exclusively expressed in one group, meaning they show up in only one row of the plots.</a:t>
            </a:r>
          </a:p>
          <a:p>
            <a:r>
              <a:t>A dataset with groups that are well separated by gene markers shows a 'stair-like' pattern in the plots.</a:t>
            </a:r>
          </a:p>
          <a:p>
            <a:r>
              <a:t>Groups with shared markers might be combined to provide better separated groups.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marker for each group (row). The first embedding shows the location of the group and the following plots show the respective gene expression binned into hexagonal tiles.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top marker for each group (row). The first embedding shows the location of the group and the following plots show which cells express the gene.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marker genes that separate the condition within a group. A dotplot is shown for each group where condition markers are found.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dotplot shows the groups to assign cell types and their respective top gene markers.</a:t>
            </a:r>
          </a:p>
          <a:p>
            <a:r>
              <a:t>The table shows different annotation versions (columns) based on different algorithms. The Annotation is either based on SCSA or on the SC-Framework internal marker repo (MR).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embedding is colored for the initial groups, while the following embeddings show the different annotation versions from the previous slides.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02093" y="1962049"/>
            <a:ext cx="3521481" cy="2775498"/>
          </a:xfrm>
          <a:prstGeom prst="rect">
            <a:avLst/>
          </a:prstGeom>
          <a:effectLst>
            <a:softEdge rad="635000"/>
          </a:effectLst>
        </p:spPr>
      </p:pic>
      <p:sp>
        <p:nvSpPr>
          <p:cNvPr id="17" name="Rectangle 16"/>
          <p:cNvSpPr/>
          <p:nvPr userDrawn="1"/>
        </p:nvSpPr>
        <p:spPr>
          <a:xfrm>
            <a:off x="2783632" y="3284984"/>
            <a:ext cx="9361040" cy="34563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a:spLocks noChangeAspect="1"/>
          </p:cNvSpPr>
          <p:nvPr userDrawn="1"/>
        </p:nvSpPr>
        <p:spPr>
          <a:xfrm>
            <a:off x="1491061" y="2636912"/>
            <a:ext cx="1058072" cy="1058072"/>
          </a:xfrm>
          <a:prstGeom prst="ellipse">
            <a:avLst/>
          </a:prstGeom>
          <a:solidFill>
            <a:schemeClr val="bg1"/>
          </a:solidFill>
          <a:ln w="317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578940" y="2881875"/>
            <a:ext cx="882313" cy="501596"/>
          </a:xfrm>
          <a:prstGeom prst="rect">
            <a:avLst/>
          </a:prstGeom>
        </p:spPr>
      </p:pic>
      <p:sp>
        <p:nvSpPr>
          <p:cNvPr id="10" name="Titel 9">
            <a:extLst>
              <a:ext uri="{FF2B5EF4-FFF2-40B4-BE49-F238E27FC236}">
                <a16:creationId xmlns:a16="http://schemas.microsoft.com/office/drawing/2014/main" id="{98218C12-87C4-0F5B-5AFE-7E7D004B4D69}"/>
              </a:ext>
            </a:extLst>
          </p:cNvPr>
          <p:cNvSpPr>
            <a:spLocks noGrp="1"/>
          </p:cNvSpPr>
          <p:nvPr>
            <p:ph type="title" hasCustomPrompt="1"/>
          </p:nvPr>
        </p:nvSpPr>
        <p:spPr>
          <a:xfrm>
            <a:off x="3104965" y="3429000"/>
            <a:ext cx="7371352" cy="720079"/>
          </a:xfrm>
        </p:spPr>
        <p:txBody>
          <a:bodyPr/>
          <a:lstStyle>
            <a:lvl1pPr>
              <a:defRPr>
                <a:latin typeface="Tahoma" panose="020B0604030504040204" pitchFamily="34" charset="0"/>
                <a:ea typeface="Tahoma" panose="020B0604030504040204" pitchFamily="34" charset="0"/>
                <a:cs typeface="Tahoma" panose="020B0604030504040204" pitchFamily="34" charset="0"/>
              </a:defRPr>
            </a:lvl1pPr>
          </a:lstStyle>
          <a:p>
            <a:r>
              <a:rPr lang="en-US" noProof="0" dirty="0"/>
              <a:t>Click to edit Master title style</a:t>
            </a:r>
          </a:p>
        </p:txBody>
      </p:sp>
      <p:sp>
        <p:nvSpPr>
          <p:cNvPr id="13" name="Textplatzhalter 12">
            <a:extLst>
              <a:ext uri="{FF2B5EF4-FFF2-40B4-BE49-F238E27FC236}">
                <a16:creationId xmlns:a16="http://schemas.microsoft.com/office/drawing/2014/main" id="{134FCAA1-E1E4-F6C1-781B-153CACD84834}"/>
              </a:ext>
            </a:extLst>
          </p:cNvPr>
          <p:cNvSpPr>
            <a:spLocks noGrp="1"/>
          </p:cNvSpPr>
          <p:nvPr>
            <p:ph type="body" sz="quarter" idx="11" hasCustomPrompt="1"/>
          </p:nvPr>
        </p:nvSpPr>
        <p:spPr>
          <a:xfrm>
            <a:off x="3105151" y="4221163"/>
            <a:ext cx="7389598" cy="2087562"/>
          </a:xfrm>
          <a:prstGeom prst="rect">
            <a:avLst/>
          </a:prstGeo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4206741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86150EE-FDD4-4F01-8CBE-FCBC9BFA875E}" type="slidenum">
              <a:rPr lang="en-GB" smtClean="0"/>
              <a:t>‹#›</a:t>
            </a:fld>
            <a:endParaRPr lang="en-GB"/>
          </a:p>
        </p:txBody>
      </p:sp>
      <p:sp>
        <p:nvSpPr>
          <p:cNvPr id="9" name="Title 8"/>
          <p:cNvSpPr>
            <a:spLocks noGrp="1"/>
          </p:cNvSpPr>
          <p:nvPr>
            <p:ph type="title" hasCustomPrompt="1"/>
          </p:nvPr>
        </p:nvSpPr>
        <p:spPr/>
        <p:txBody>
          <a:bodyPr/>
          <a:lstStyle>
            <a:lvl1pPr>
              <a:defRPr/>
            </a:lvl1pPr>
          </a:lstStyle>
          <a:p>
            <a:r>
              <a:rPr lang="en-US"/>
              <a:t>Click to add title</a:t>
            </a:r>
            <a:endParaRPr lang="en-GB"/>
          </a:p>
        </p:txBody>
      </p:sp>
    </p:spTree>
    <p:extLst>
      <p:ext uri="{BB962C8B-B14F-4D97-AF65-F5344CB8AC3E}">
        <p14:creationId xmlns:p14="http://schemas.microsoft.com/office/powerpoint/2010/main" val="3818182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1" name="Picture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43330" t="11780" b="1806"/>
          <a:stretch/>
        </p:blipFill>
        <p:spPr>
          <a:xfrm>
            <a:off x="0" y="0"/>
            <a:ext cx="1703040" cy="6859481"/>
          </a:xfrm>
          <a:prstGeom prst="rect">
            <a:avLst/>
          </a:prstGeom>
        </p:spPr>
      </p:pic>
      <p:pic>
        <p:nvPicPr>
          <p:cNvPr id="6" name="Picture 5">
            <a:extLst>
              <a:ext uri="{FF2B5EF4-FFF2-40B4-BE49-F238E27FC236}">
                <a16:creationId xmlns:a16="http://schemas.microsoft.com/office/drawing/2014/main" id="{755E242B-C746-6F36-2FC8-B1AFFCBE96F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96000" y="476672"/>
            <a:ext cx="5519936" cy="1007062"/>
          </a:xfrm>
          <a:prstGeom prst="rect">
            <a:avLst/>
          </a:prstGeom>
        </p:spPr>
      </p:pic>
      <p:sp>
        <p:nvSpPr>
          <p:cNvPr id="10" name="Title 9"/>
          <p:cNvSpPr>
            <a:spLocks noGrp="1"/>
          </p:cNvSpPr>
          <p:nvPr>
            <p:ph type="title"/>
          </p:nvPr>
        </p:nvSpPr>
        <p:spPr>
          <a:xfrm>
            <a:off x="3119669" y="3510136"/>
            <a:ext cx="8376931" cy="710952"/>
          </a:xfrm>
          <a:prstGeom prst="rect">
            <a:avLst/>
          </a:prstGeom>
        </p:spPr>
        <p:txBody>
          <a:bodyPr>
            <a:normAutofit/>
          </a:bodyPr>
          <a:lstStyle>
            <a:lvl1pPr algn="l">
              <a:defRPr sz="3600" baseline="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lvl1pPr>
          </a:lstStyle>
          <a:p>
            <a:endParaRPr lang="en-GB" dirty="0"/>
          </a:p>
        </p:txBody>
      </p:sp>
      <p:sp>
        <p:nvSpPr>
          <p:cNvPr id="11" name="Text Placeholder 11"/>
          <p:cNvSpPr>
            <a:spLocks noGrp="1"/>
          </p:cNvSpPr>
          <p:nvPr>
            <p:ph type="body" sz="quarter" idx="10"/>
          </p:nvPr>
        </p:nvSpPr>
        <p:spPr>
          <a:xfrm>
            <a:off x="3119670" y="4221089"/>
            <a:ext cx="6912636" cy="637133"/>
          </a:xfrm>
          <a:prstGeom prst="rect">
            <a:avLst/>
          </a:prstGeom>
        </p:spPr>
        <p:txBody>
          <a:bodyPr/>
          <a:lstStyle>
            <a:lvl1pPr marL="0" indent="0" algn="r">
              <a:buNone/>
              <a:defRPr sz="240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defRPr>
            </a:lvl1pPr>
          </a:lstStyle>
          <a:p>
            <a:pPr lvl="0"/>
            <a:endParaRPr lang="en-US" dirty="0"/>
          </a:p>
        </p:txBody>
      </p:sp>
    </p:spTree>
    <p:extLst>
      <p:ext uri="{BB962C8B-B14F-4D97-AF65-F5344CB8AC3E}">
        <p14:creationId xmlns:p14="http://schemas.microsoft.com/office/powerpoint/2010/main" val="3361638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1.1">
    <p:spTree>
      <p:nvGrpSpPr>
        <p:cNvPr id="1" name=""/>
        <p:cNvGrpSpPr/>
        <p:nvPr/>
      </p:nvGrpSpPr>
      <p:grpSpPr>
        <a:xfrm>
          <a:off x="0" y="0"/>
          <a:ext cx="0" cy="0"/>
          <a:chOff x="0" y="0"/>
          <a:chExt cx="0" cy="0"/>
        </a:xfrm>
      </p:grpSpPr>
      <p:sp>
        <p:nvSpPr>
          <p:cNvPr id="8" name="Title 7"/>
          <p:cNvSpPr>
            <a:spLocks noGrp="1"/>
          </p:cNvSpPr>
          <p:nvPr>
            <p:ph type="title" hasCustomPrompt="1"/>
          </p:nvPr>
        </p:nvSpPr>
        <p:spPr/>
        <p:txBody>
          <a:bodyPr/>
          <a:lstStyle>
            <a:lvl1pPr>
              <a:defRPr/>
            </a:lvl1pPr>
          </a:lstStyle>
          <a:p>
            <a:r>
              <a:rPr lang="en-US"/>
              <a:t>Click to add title</a:t>
            </a:r>
            <a:endParaRPr lang="en-GB"/>
          </a:p>
        </p:txBody>
      </p:sp>
    </p:spTree>
    <p:extLst>
      <p:ext uri="{BB962C8B-B14F-4D97-AF65-F5344CB8AC3E}">
        <p14:creationId xmlns:p14="http://schemas.microsoft.com/office/powerpoint/2010/main" val="3945006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Blank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908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59496" y="188641"/>
            <a:ext cx="9794304" cy="720079"/>
          </a:xfrm>
          <a:prstGeom prst="rect">
            <a:avLst/>
          </a:prstGeom>
        </p:spPr>
        <p:txBody>
          <a:bodyPr vert="horz" lIns="91440" tIns="45720" rIns="91440" bIns="45720" rtlCol="0" anchor="ctr">
            <a:normAutofit/>
          </a:bodyPr>
          <a:lstStyle/>
          <a:p>
            <a:r>
              <a:rPr lang="en-US"/>
              <a:t>Click to add title</a:t>
            </a:r>
            <a:endParaRPr lang="en-GB"/>
          </a:p>
        </p:txBody>
      </p:sp>
      <p:sp>
        <p:nvSpPr>
          <p:cNvPr id="4" name="Date Placeholder 3"/>
          <p:cNvSpPr>
            <a:spLocks noGrp="1"/>
          </p:cNvSpPr>
          <p:nvPr>
            <p:ph type="dt" sz="half" idx="2"/>
          </p:nvPr>
        </p:nvSpPr>
        <p:spPr>
          <a:xfrm>
            <a:off x="119336" y="6448251"/>
            <a:ext cx="1053906"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4038600" y="64482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1640616" y="6448251"/>
            <a:ext cx="4320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6150EE-FDD4-4F01-8CBE-FCBC9BFA875E}" type="slidenum">
              <a:rPr lang="en-GB" smtClean="0"/>
              <a:t>‹#›</a:t>
            </a:fld>
            <a:endParaRPr lang="en-GB"/>
          </a:p>
        </p:txBody>
      </p:sp>
      <p:pic>
        <p:nvPicPr>
          <p:cNvPr id="7" name="Picture 6"/>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17823" y="100265"/>
            <a:ext cx="1041137" cy="820585"/>
          </a:xfrm>
          <a:prstGeom prst="rect">
            <a:avLst/>
          </a:prstGeom>
          <a:effectLst>
            <a:softEdge rad="254000"/>
          </a:effectLst>
        </p:spPr>
      </p:pic>
      <p:sp>
        <p:nvSpPr>
          <p:cNvPr id="8" name="Oval 7"/>
          <p:cNvSpPr>
            <a:spLocks noChangeAspect="1"/>
          </p:cNvSpPr>
          <p:nvPr userDrawn="1"/>
        </p:nvSpPr>
        <p:spPr>
          <a:xfrm>
            <a:off x="813242" y="386911"/>
            <a:ext cx="360000" cy="360000"/>
          </a:xfrm>
          <a:prstGeom prst="ellipse">
            <a:avLst/>
          </a:prstGeom>
          <a:solidFill>
            <a:schemeClr val="bg1"/>
          </a:solidFill>
          <a:ln w="3175">
            <a:solidFill>
              <a:schemeClr val="bg2">
                <a:lumMod val="9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45827" y="469114"/>
            <a:ext cx="288921" cy="164251"/>
          </a:xfrm>
          <a:prstGeom prst="rect">
            <a:avLst/>
          </a:prstGeom>
        </p:spPr>
      </p:pic>
      <p:cxnSp>
        <p:nvCxnSpPr>
          <p:cNvPr id="14" name="Straight Connector 13"/>
          <p:cNvCxnSpPr/>
          <p:nvPr userDrawn="1"/>
        </p:nvCxnSpPr>
        <p:spPr>
          <a:xfrm>
            <a:off x="335360" y="980728"/>
            <a:ext cx="11449272" cy="0"/>
          </a:xfrm>
          <a:prstGeom prst="line">
            <a:avLst/>
          </a:prstGeom>
          <a:ln w="12700" cap="rnd">
            <a:gradFill flip="none" rotWithShape="1">
              <a:gsLst>
                <a:gs pos="51900">
                  <a:schemeClr val="bg1">
                    <a:lumMod val="50000"/>
                  </a:schemeClr>
                </a:gs>
                <a:gs pos="100000">
                  <a:schemeClr val="bg1">
                    <a:lumMod val="85000"/>
                  </a:schemeClr>
                </a:gs>
                <a:gs pos="0">
                  <a:schemeClr val="tx1">
                    <a:lumMod val="50000"/>
                    <a:lumOff val="50000"/>
                  </a:schemeClr>
                </a:gs>
              </a:gsLst>
              <a:path path="circle">
                <a:fillToRect l="50000" t="50000" r="50000" b="50000"/>
              </a:path>
              <a:tileRect/>
            </a:gradFill>
          </a:ln>
          <a:effectLst>
            <a:softEdge rad="0"/>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8198765"/>
      </p:ext>
    </p:extLst>
  </p:cSld>
  <p:clrMap bg1="lt1" tx1="dk1" bg2="lt2" tx2="dk2" accent1="accent1" accent2="accent2" accent3="accent3" accent4="accent4" accent5="accent5" accent6="accent6" hlink="hlink" folHlink="folHlink"/>
  <p:sldLayoutIdLst>
    <p:sldLayoutId id="2147483747" r:id="rId1"/>
    <p:sldLayoutId id="2147483745" r:id="rId2"/>
    <p:sldLayoutId id="2147483746" r:id="rId3"/>
    <p:sldLayoutId id="2147483744" r:id="rId4"/>
    <p:sldLayoutId id="2147483749" r:id="rId5"/>
  </p:sldLayoutIdLst>
  <p:hf sldNum="0" hdr="0" ftr="0" dt="0"/>
  <p:txStyles>
    <p:titleStyle>
      <a:lvl1pPr algn="l" defTabSz="914400" rtl="0" eaLnBrk="1" latinLnBrk="0" hangingPunct="1">
        <a:lnSpc>
          <a:spcPct val="90000"/>
        </a:lnSpc>
        <a:spcBef>
          <a:spcPct val="0"/>
        </a:spcBef>
        <a:buNone/>
        <a:defRPr sz="3600"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oosolab.pages.gwdg.de/software/sc_framework/" TargetMode="Externa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istill.pub/2016/misread-tsne/?_ga=2.135835192.888864733.1531353600-1779571267.1531353600" TargetMode="External"/><Relationship Id="rId3" Type="http://schemas.openxmlformats.org/officeDocument/2006/relationships/hyperlink" Target="https://pair-code.github.io/understanding-umap/"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4.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3.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336C20B-78F2-C8E9-F781-AA46BBA8E967}"/>
              </a:ext>
            </a:extLst>
          </p:cNvPr>
          <p:cNvSpPr>
            <a:spLocks noGrp="1"/>
          </p:cNvSpPr>
          <p:nvPr>
            <p:ph type="title"/>
          </p:nvPr>
        </p:nvSpPr>
        <p:spPr/>
        <p:txBody>
          <a:bodyPr/>
          <a:lstStyle/>
          <a:p>
            <a:r>
              <a:rPr lang="en-US" dirty="0"/>
              <a:t>Single Cell RNA analysis report</a:t>
            </a:r>
          </a:p>
        </p:txBody>
      </p:sp>
      <p:sp>
        <p:nvSpPr>
          <p:cNvPr id="5" name="Textplatzhalter 4">
            <a:extLst>
              <a:ext uri="{FF2B5EF4-FFF2-40B4-BE49-F238E27FC236}">
                <a16:creationId xmlns:a16="http://schemas.microsoft.com/office/drawing/2014/main" id="{B139C730-D126-C258-5F13-C1EC11465399}"/>
              </a:ext>
            </a:extLst>
          </p:cNvPr>
          <p:cNvSpPr>
            <a:spLocks noGrp="1"/>
          </p:cNvSpPr>
          <p:nvPr>
            <p:ph type="body" sz="quarter" idx="10"/>
          </p:nvPr>
        </p:nvSpPr>
        <p:spPr/>
        <p:txBody>
          <a:bodyPr/>
          <a:lstStyle/>
          <a:p>
            <a:r>
              <a:rPr lang="en-US" dirty="0"/>
              <a:t>Bioinformatics Core Unit</a:t>
            </a:r>
          </a:p>
        </p:txBody>
      </p:sp>
    </p:spTree>
    <p:extLst>
      <p:ext uri="{BB962C8B-B14F-4D97-AF65-F5344CB8AC3E}">
        <p14:creationId xmlns:p14="http://schemas.microsoft.com/office/powerpoint/2010/main" val="2748322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F9A0A8A3-1CD0-51CC-6DEA-BC3B2943E20A}"/>
              </a:ext>
            </a:extLst>
          </p:cNvPr>
          <p:cNvSpPr>
            <a:spLocks noGrp="1"/>
          </p:cNvSpPr>
          <p:nvPr>
            <p:ph type="title"/>
          </p:nvPr>
        </p:nvSpPr>
        <p:spPr>
          <a:xfrm>
            <a:off x="3104965" y="3429000"/>
            <a:ext cx="7371352" cy="720079"/>
          </a:xfrm>
        </p:spPr>
        <p:txBody>
          <a:bodyPr/>
          <a:lstStyle/>
          <a:p>
            <a:r>
              <a:rPr lang="en-US" dirty="0"/>
              <a:t>Introduction</a:t>
            </a:r>
          </a:p>
        </p:txBody>
      </p:sp>
      <p:sp>
        <p:nvSpPr>
          <p:cNvPr id="2" name="Textplatzhalter 1">
            <a:extLst>
              <a:ext uri="{FF2B5EF4-FFF2-40B4-BE49-F238E27FC236}">
                <a16:creationId xmlns:a16="http://schemas.microsoft.com/office/drawing/2014/main" id="{F32A8327-CC96-3CB7-062E-3356635BBBB0}"/>
              </a:ext>
            </a:extLst>
          </p:cNvPr>
          <p:cNvSpPr>
            <a:spLocks noGrp="1"/>
          </p:cNvSpPr>
          <p:nvPr>
            <p:ph type="body" sz="quarter" idx="11"/>
          </p:nvPr>
        </p:nvSpPr>
        <p:spPr/>
        <p:txBody>
          <a:bodyPr/>
          <a:lstStyle/>
          <a:p>
            <a:r>
              <a:rPr lang="en-US" dirty="0"/>
              <a:t>Terms and methodology this pipeline is based on.</a:t>
            </a:r>
          </a:p>
        </p:txBody>
      </p:sp>
    </p:spTree>
    <p:extLst>
      <p:ext uri="{BB962C8B-B14F-4D97-AF65-F5344CB8AC3E}">
        <p14:creationId xmlns:p14="http://schemas.microsoft.com/office/powerpoint/2010/main" val="2238918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61AEEAD-FB42-5B0A-6147-C84AE117E02B}"/>
              </a:ext>
            </a:extLst>
          </p:cNvPr>
          <p:cNvSpPr>
            <a:spLocks noGrp="1"/>
          </p:cNvSpPr>
          <p:nvPr>
            <p:ph type="title"/>
          </p:nvPr>
        </p:nvSpPr>
        <p:spPr/>
        <p:txBody>
          <a:bodyPr/>
          <a:lstStyle/>
          <a:p>
            <a:r>
              <a:rPr lang="en-US" dirty="0"/>
              <a:t>Overview</a:t>
            </a:r>
          </a:p>
        </p:txBody>
      </p:sp>
      <p:sp>
        <p:nvSpPr>
          <p:cNvPr id="7" name="Rectangle 7">
            <a:extLst>
              <a:ext uri="{FF2B5EF4-FFF2-40B4-BE49-F238E27FC236}">
                <a16:creationId xmlns:a16="http://schemas.microsoft.com/office/drawing/2014/main" id="{CE530850-B486-CC5C-1B40-FFCBB71AD958}"/>
              </a:ext>
            </a:extLst>
          </p:cNvPr>
          <p:cNvSpPr/>
          <p:nvPr/>
        </p:nvSpPr>
        <p:spPr>
          <a:xfrm>
            <a:off x="2893841" y="6307693"/>
            <a:ext cx="6404317" cy="369332"/>
          </a:xfrm>
          <a:prstGeom prst="rect">
            <a:avLst/>
          </a:prstGeom>
        </p:spPr>
        <p:txBody>
          <a:bodyPr wrap="none">
            <a:spAutoFit/>
          </a:bodyPr>
          <a:lstStyle/>
          <a:p>
            <a:r>
              <a:rPr lang="en-US" dirty="0"/>
              <a:t>Manual: </a:t>
            </a:r>
            <a:r>
              <a:rPr lang="en-US" dirty="0">
                <a:hlinkClick r:id="rId2"/>
              </a:rPr>
              <a:t>https://loosolab.pages.gwdg.de/software/sc_framework/</a:t>
            </a:r>
            <a:endParaRPr lang="en-US" dirty="0"/>
          </a:p>
        </p:txBody>
      </p:sp>
      <p:pic>
        <p:nvPicPr>
          <p:cNvPr id="9" name="Grafik 8" descr="The image shows an overview of the SC-Framework environment with its included tools, the package and analysis notebooks.">
            <a:extLst>
              <a:ext uri="{FF2B5EF4-FFF2-40B4-BE49-F238E27FC236}">
                <a16:creationId xmlns:a16="http://schemas.microsoft.com/office/drawing/2014/main" id="{FDA4C355-5E5C-2A9D-431D-7CDAE52AFEE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50417" y="1052736"/>
            <a:ext cx="7291166" cy="5228980"/>
          </a:xfrm>
          <a:prstGeom prst="rect">
            <a:avLst/>
          </a:prstGeom>
        </p:spPr>
      </p:pic>
    </p:spTree>
    <p:extLst>
      <p:ext uri="{BB962C8B-B14F-4D97-AF65-F5344CB8AC3E}">
        <p14:creationId xmlns:p14="http://schemas.microsoft.com/office/powerpoint/2010/main" val="1596308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11BEA5E-7EB5-9125-E3E0-589A11F824BF}"/>
              </a:ext>
            </a:extLst>
          </p:cNvPr>
          <p:cNvSpPr>
            <a:spLocks noGrp="1"/>
          </p:cNvSpPr>
          <p:nvPr>
            <p:ph type="title"/>
          </p:nvPr>
        </p:nvSpPr>
        <p:spPr/>
        <p:txBody>
          <a:bodyPr/>
          <a:lstStyle/>
          <a:p>
            <a:r>
              <a:rPr lang="en-US" dirty="0"/>
              <a:t>Terms and Algorithms</a:t>
            </a:r>
          </a:p>
        </p:txBody>
      </p:sp>
      <p:sp>
        <p:nvSpPr>
          <p:cNvPr id="2" name="Rectangle 2">
            <a:extLst>
              <a:ext uri="{FF2B5EF4-FFF2-40B4-BE49-F238E27FC236}">
                <a16:creationId xmlns:a16="http://schemas.microsoft.com/office/drawing/2014/main" id="{4221795C-4715-8994-7BED-16090881CE53}"/>
              </a:ext>
            </a:extLst>
          </p:cNvPr>
          <p:cNvSpPr/>
          <p:nvPr/>
        </p:nvSpPr>
        <p:spPr>
          <a:xfrm>
            <a:off x="839416" y="1124744"/>
            <a:ext cx="10514384" cy="5047536"/>
          </a:xfrm>
          <a:prstGeom prst="rect">
            <a:avLst/>
          </a:prstGeom>
          <a:solidFill>
            <a:srgbClr val="F2F2F2"/>
          </a:solidFill>
          <a:ln>
            <a:solidFill>
              <a:srgbClr val="D9D9D9"/>
            </a:solidFill>
          </a:ln>
        </p:spPr>
        <p:txBody>
          <a:bodyPr wrap="square">
            <a:spAutoFit/>
          </a:bodyPr>
          <a:lstStyle/>
          <a:p>
            <a:r>
              <a:rPr lang="en-GB" sz="1400" b="1" dirty="0"/>
              <a:t>Observation (</a:t>
            </a:r>
            <a:r>
              <a:rPr lang="en-GB" sz="1400" b="1" dirty="0" err="1"/>
              <a:t>obs</a:t>
            </a:r>
            <a:r>
              <a:rPr lang="en-GB" sz="1400" b="1" dirty="0"/>
              <a:t>)</a:t>
            </a:r>
          </a:p>
          <a:p>
            <a:r>
              <a:rPr lang="en-GB" sz="1400" dirty="0"/>
              <a:t>In </a:t>
            </a:r>
            <a:r>
              <a:rPr lang="en-GB" sz="1400" dirty="0" err="1"/>
              <a:t>scRNA-seq</a:t>
            </a:r>
            <a:r>
              <a:rPr lang="en-GB" sz="1400" dirty="0"/>
              <a:t> data an observation refers to a cell identified by a barcode unique in the dataset.</a:t>
            </a:r>
          </a:p>
          <a:p>
            <a:endParaRPr lang="en-GB" sz="1400" b="1" dirty="0"/>
          </a:p>
          <a:p>
            <a:r>
              <a:rPr lang="en-GB" sz="1400" b="1" dirty="0"/>
              <a:t>Variable (</a:t>
            </a:r>
            <a:r>
              <a:rPr lang="en-GB" sz="1400" b="1" dirty="0" err="1"/>
              <a:t>var</a:t>
            </a:r>
            <a:r>
              <a:rPr lang="en-GB" sz="1400" b="1" dirty="0"/>
              <a:t>)</a:t>
            </a:r>
          </a:p>
          <a:p>
            <a:r>
              <a:rPr lang="en-GB" sz="1400" dirty="0"/>
              <a:t>A variable refers to a gene. Both </a:t>
            </a:r>
            <a:r>
              <a:rPr lang="en-GB" sz="1400" dirty="0" err="1"/>
              <a:t>var</a:t>
            </a:r>
            <a:r>
              <a:rPr lang="en-GB" sz="1400" dirty="0"/>
              <a:t> and </a:t>
            </a:r>
            <a:r>
              <a:rPr lang="en-GB" sz="1400" dirty="0" err="1"/>
              <a:t>obs</a:t>
            </a:r>
            <a:r>
              <a:rPr lang="en-GB" sz="1400" dirty="0"/>
              <a:t> can have additional metadata, e.g. cell types (</a:t>
            </a:r>
            <a:r>
              <a:rPr lang="en-GB" sz="1400" dirty="0" err="1"/>
              <a:t>obs</a:t>
            </a:r>
            <a:r>
              <a:rPr lang="en-GB" sz="1400" dirty="0"/>
              <a:t>) or “is mitochondrial” (</a:t>
            </a:r>
            <a:r>
              <a:rPr lang="en-GB" sz="1400" dirty="0" err="1"/>
              <a:t>var</a:t>
            </a:r>
            <a:r>
              <a:rPr lang="en-GB" sz="1400" dirty="0"/>
              <a:t>).</a:t>
            </a:r>
          </a:p>
          <a:p>
            <a:endParaRPr lang="en-GB" sz="1400" dirty="0"/>
          </a:p>
          <a:p>
            <a:r>
              <a:rPr lang="en-GB" sz="1400" b="1" dirty="0"/>
              <a:t>Matrix</a:t>
            </a:r>
            <a:endParaRPr lang="en-GB" sz="1400" dirty="0"/>
          </a:p>
          <a:p>
            <a:r>
              <a:rPr lang="en-GB" sz="1400" dirty="0"/>
              <a:t>The analysis is based on an expression matrix (</a:t>
            </a:r>
            <a:r>
              <a:rPr lang="en-GB" sz="1400" dirty="0" err="1"/>
              <a:t>obs</a:t>
            </a:r>
            <a:r>
              <a:rPr lang="en-GB" sz="1400" dirty="0"/>
              <a:t> x </a:t>
            </a:r>
            <a:r>
              <a:rPr lang="en-GB" sz="1400" dirty="0" err="1"/>
              <a:t>var</a:t>
            </a:r>
            <a:r>
              <a:rPr lang="en-GB" sz="1400" dirty="0"/>
              <a:t>) that contains the raw RNA counts for each cell over each gene.</a:t>
            </a:r>
          </a:p>
          <a:p>
            <a:endParaRPr lang="en-GB" sz="1400" dirty="0"/>
          </a:p>
          <a:p>
            <a:r>
              <a:rPr lang="en-GB" sz="1400" b="1" dirty="0"/>
              <a:t>Principle Component Analysis (PCA)</a:t>
            </a:r>
          </a:p>
          <a:p>
            <a:r>
              <a:rPr lang="en-GB" sz="1400" dirty="0"/>
              <a:t>The PCA reduces the high-dimensional data by summarizing similar behaving genes into principle components (PCs). PCs that explain little of the dataset variance or PCs that correlate with technical factors are considered noise and removed.</a:t>
            </a:r>
          </a:p>
          <a:p>
            <a:endParaRPr lang="en-GB" sz="1400" b="1" dirty="0"/>
          </a:p>
          <a:p>
            <a:r>
              <a:rPr lang="en-US" sz="1400" b="1" dirty="0"/>
              <a:t>t-distributed stochastic neighbor embedding (t-SNE)</a:t>
            </a:r>
          </a:p>
          <a:p>
            <a:r>
              <a:rPr lang="en-US" sz="1400" dirty="0"/>
              <a:t>The t-SNE further reduces the dimensions (PCs) from the PCA to a low-dimensional output (usually 2D). </a:t>
            </a:r>
          </a:p>
          <a:p>
            <a:r>
              <a:rPr lang="en-GB" sz="1400" b="1" dirty="0">
                <a:hlinkClick r:id="rId2"/>
              </a:rPr>
              <a:t>More information on t-SNE</a:t>
            </a:r>
            <a:endParaRPr lang="en-GB" sz="1400" b="1" dirty="0"/>
          </a:p>
          <a:p>
            <a:endParaRPr lang="en-GB" sz="1400" b="1" dirty="0"/>
          </a:p>
          <a:p>
            <a:r>
              <a:rPr lang="en-US" sz="1400" b="1" dirty="0"/>
              <a:t>Uniform Manifold Approximation and Projection (UMAP)</a:t>
            </a:r>
          </a:p>
          <a:p>
            <a:r>
              <a:rPr lang="en-GB" sz="1400" dirty="0"/>
              <a:t>UMAP takes the PCs from the PCA and reduces them into a low-dimensional, 2D or 3D, representation. It does so, by constructing a high-dimensional graph and optimizing a low-dimensional analogue to be as similar as possible. Both UMAP and t-SNE are mostly equivalent techniques to visualize high-dimensional data. They are robust, meaning they will provide highly similar results. Thus, we provide either UMAP or t-SNE.</a:t>
            </a:r>
          </a:p>
          <a:p>
            <a:r>
              <a:rPr lang="en-GB" sz="1400" b="1" dirty="0">
                <a:hlinkClick r:id="rId3"/>
              </a:rPr>
              <a:t>More information on UMAP</a:t>
            </a:r>
            <a:endParaRPr lang="en-GB" sz="1400" b="1" dirty="0"/>
          </a:p>
        </p:txBody>
      </p:sp>
    </p:spTree>
    <p:extLst>
      <p:ext uri="{BB962C8B-B14F-4D97-AF65-F5344CB8AC3E}">
        <p14:creationId xmlns:p14="http://schemas.microsoft.com/office/powerpoint/2010/main" val="2157333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11BEA5E-7EB5-9125-E3E0-589A11F824BF}"/>
              </a:ext>
            </a:extLst>
          </p:cNvPr>
          <p:cNvSpPr>
            <a:spLocks noGrp="1"/>
          </p:cNvSpPr>
          <p:nvPr>
            <p:ph type="title"/>
          </p:nvPr>
        </p:nvSpPr>
        <p:spPr/>
        <p:txBody>
          <a:bodyPr/>
          <a:lstStyle/>
          <a:p>
            <a:r>
              <a:rPr lang="en-US" dirty="0"/>
              <a:t>Terms and Algorithms</a:t>
            </a:r>
          </a:p>
        </p:txBody>
      </p:sp>
      <p:sp>
        <p:nvSpPr>
          <p:cNvPr id="5" name="Rectangle 2">
            <a:extLst>
              <a:ext uri="{FF2B5EF4-FFF2-40B4-BE49-F238E27FC236}">
                <a16:creationId xmlns:a16="http://schemas.microsoft.com/office/drawing/2014/main" id="{EAD769A9-5273-21FC-EE22-589A83563D25}"/>
              </a:ext>
            </a:extLst>
          </p:cNvPr>
          <p:cNvSpPr/>
          <p:nvPr/>
        </p:nvSpPr>
        <p:spPr>
          <a:xfrm>
            <a:off x="839416" y="1124744"/>
            <a:ext cx="10514384" cy="5693866"/>
          </a:xfrm>
          <a:prstGeom prst="rect">
            <a:avLst/>
          </a:prstGeom>
          <a:solidFill>
            <a:srgbClr val="F2F2F2"/>
          </a:solidFill>
          <a:ln>
            <a:solidFill>
              <a:srgbClr val="D9D9D9"/>
            </a:solidFill>
          </a:ln>
        </p:spPr>
        <p:txBody>
          <a:bodyPr wrap="square">
            <a:spAutoFit/>
          </a:bodyPr>
          <a:lstStyle/>
          <a:p>
            <a:r>
              <a:rPr lang="de-DE" sz="1400" b="1" dirty="0"/>
              <a:t>Batch </a:t>
            </a:r>
            <a:r>
              <a:rPr lang="en-US" sz="1400" b="1" dirty="0"/>
              <a:t>correction</a:t>
            </a:r>
          </a:p>
          <a:p>
            <a:r>
              <a:rPr lang="en-US" sz="1400" dirty="0"/>
              <a:t>Batch effects are variances in the data that are not intended by the experimental design (e.g. technical variance). They can be introduced through various sources. For example, sequencing samples at different </a:t>
            </a:r>
            <a:r>
              <a:rPr lang="en-US" sz="1400" dirty="0" err="1"/>
              <a:t>timepoints</a:t>
            </a:r>
            <a:r>
              <a:rPr lang="en-US" sz="1400" dirty="0"/>
              <a:t> may introduce batch effects. As batch effects could interfere with downstream analysis they are typically removed. However, it can be challenging to identify and correct for batch effects as this is highly dependent on the experimental setup of the dataset. For optimal results an experiment should be designed in a way that each condition is present in at least two different batches.</a:t>
            </a:r>
            <a:endParaRPr lang="de-DE" sz="1400" dirty="0"/>
          </a:p>
          <a:p>
            <a:endParaRPr lang="de-DE" sz="1400" b="1" dirty="0"/>
          </a:p>
          <a:p>
            <a:r>
              <a:rPr lang="en-US" sz="1400" b="1" dirty="0"/>
              <a:t>Local Inverse Simpson's Index (LISI)</a:t>
            </a:r>
            <a:endParaRPr lang="de-DE" sz="1400" b="1" dirty="0"/>
          </a:p>
          <a:p>
            <a:r>
              <a:rPr lang="de-DE" sz="1400" dirty="0"/>
              <a:t>T</a:t>
            </a:r>
            <a:r>
              <a:rPr lang="en-US" sz="1400" dirty="0"/>
              <a:t>he LISI measures the strength of a batch effect based on the heterogeneity in each group. Meaning, a well-mixed dataset, without any batch effect will get a high score of up to the number of batches in the dataset.</a:t>
            </a:r>
          </a:p>
          <a:p>
            <a:endParaRPr lang="en-US" sz="1400" b="1" dirty="0"/>
          </a:p>
          <a:p>
            <a:r>
              <a:rPr lang="en-US" sz="1400" b="1" dirty="0"/>
              <a:t>Clustering</a:t>
            </a:r>
          </a:p>
          <a:p>
            <a:r>
              <a:rPr lang="en-US" sz="1400" dirty="0"/>
              <a:t>The clustering, typically done using the </a:t>
            </a:r>
            <a:r>
              <a:rPr lang="en-US" sz="1400" dirty="0" err="1"/>
              <a:t>leiden</a:t>
            </a:r>
            <a:r>
              <a:rPr lang="en-US" sz="1400" dirty="0"/>
              <a:t> algorithm, sorts the cells of a dataset into groups based on their expression similarity. The resulting clusters are commonly thought to be cell types and annotated in the following steps.</a:t>
            </a:r>
          </a:p>
          <a:p>
            <a:endParaRPr lang="en-US" sz="1400" b="1" dirty="0"/>
          </a:p>
          <a:p>
            <a:r>
              <a:rPr lang="en-US" sz="1400" b="1" dirty="0"/>
              <a:t>Interaction score</a:t>
            </a:r>
          </a:p>
          <a:p>
            <a:r>
              <a:rPr lang="en-US" sz="1400" dirty="0"/>
              <a:t>The interaction score between a receptor and a ligand gene is calculated as the z-score of the mean expression of the receptor in its cell type and z-score of the mean expression of the ligand in its cell type. Both values are further scaled based on the number of cells in the respective cell type expressing the gene and the number of cells in the dataset belonging to the cell type. The receptor and ligand score are finally added to form the interaction score.</a:t>
            </a:r>
          </a:p>
          <a:p>
            <a:endParaRPr lang="en-US" sz="1400" b="1" dirty="0"/>
          </a:p>
          <a:p>
            <a:r>
              <a:rPr lang="en-US" sz="1400" b="1" dirty="0"/>
              <a:t>Quantile rank differences</a:t>
            </a:r>
          </a:p>
          <a:p>
            <a:r>
              <a:rPr lang="en-GB" sz="1400" dirty="0"/>
              <a:t>The difference in rank a data point has between two groups. The two groups are divided into parts of equal probability (quantiles) and the rank of the data point, i.e. which quantile the data point belongs to, are compared between the two groups. The score ranges from -1 to 1. A score &lt;0 means the data point is ranked higher in the first group, while &gt;0 means it is ranked higher in the second group. The distance from 0 means how big the difference between the two ranks is.</a:t>
            </a:r>
          </a:p>
        </p:txBody>
      </p:sp>
    </p:spTree>
    <p:extLst>
      <p:ext uri="{BB962C8B-B14F-4D97-AF65-F5344CB8AC3E}">
        <p14:creationId xmlns:p14="http://schemas.microsoft.com/office/powerpoint/2010/main" val="197649292"/>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Tool Versions</a:t>
            </a:r>
          </a:p>
        </p:txBody>
      </p:sp>
      <p:pic>
        <p:nvPicPr>
          <p:cNvPr id="3" name="Picture 2" descr="k5dpab5k.png"/>
          <p:cNvPicPr>
            <a:picLocks noChangeAspect="1"/>
          </p:cNvPicPr>
          <p:nvPr/>
        </p:nvPicPr>
        <p:blipFill>
          <a:blip r:embed="rId2"/>
          <a:stretch>
            <a:fillRect/>
          </a:stretch>
        </p:blipFill>
        <p:spPr>
          <a:xfrm>
            <a:off x="720000" y="1726283"/>
            <a:ext cx="10752000" cy="431415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Methods</a:t>
            </a:r>
          </a:p>
        </p:txBody>
      </p:sp>
      <p:sp>
        <p:nvSpPr>
          <p:cNvPr id="3" name="TextBox 2"/>
          <p:cNvSpPr txBox="1"/>
          <p:nvPr/>
        </p:nvSpPr>
        <p:spPr>
          <a:xfrm>
            <a:off x="720000" y="1628720"/>
            <a:ext cx="10752000" cy="4509280"/>
          </a:xfrm>
          <a:prstGeom prst="rect">
            <a:avLst/>
          </a:prstGeom>
          <a:noFill/>
        </p:spPr>
        <p:txBody>
          <a:bodyPr wrap="square" anchor="t">
            <a:spAutoFit/>
          </a:bodyPr>
          <a:lstStyle/>
          <a:p>
            <a:pPr algn="l"/>
            <a:r>
              <a:rPr b="0" i="0" sz="1100">
                <a:latin typeface="Calibri"/>
              </a:rPr>
              <a:t>The analysis was performed with the SC-Framework (Schultheis et al., doi: 10.5281/zenodo.11065517, version 0.14.2), utilizing the following tools as part of its integrated analysis environment. Mapped and quantified data was assembled by the SC-Framework, which created an initial dataset of 32524 genes and 3883 cells. Scrublet doublet prediction (Wolock et al., doi: 10.1016/j.cels.2018.11.005) identified 38 multiplet cells, subsequently removed from the dataset. Low quality cells were filtered based on quality control metrics with a global threshold over all samples, which caused the removal of 825 cells. 0 genes were filtered due to low quality. 3020 cells and 19581 genes were left after quality control. Variances introduced by sequencing depth were corrected through total count normalization and outliers were stabilized using the log1p. Principle Component Analysis (PCA) was conducted based on 1611 highly variable genes (HVGs). The resulting Principle Components (PCs) were filtered based on their correlation to quality metrics and explained variance. 50 PCs were retained. A neighbor graph was constructed based on the selected PCs using 20 neighbors. The data was transformed into a low-dimensional embedding using UMAP (McInnes et al., https://arxiv.org/abs/1802.03426, min_dist=0.1, spread=2.5). The clustering was done via the leiden algorithm (Traag et al., https://arxiv.org/abs/1810.08473) with a resolution of 1.1. The clustering was further refined to 16 final clusters.</a:t>
            </a:r>
            <a:r>
              <a:rPr sz="1100">
                <a:latin typeface="Calibri"/>
              </a:rPr>
              <a:t>
</a:t>
            </a:r>
            <a:r>
              <a:rPr b="0" i="0" sz="1100">
                <a:latin typeface="Calibri"/>
              </a:rPr>
              <a:t>Marker genes, i.e. genes predominantely expressed in one cluster/ group, were computed using Scanpy's "rank_genes_groups" (Wolf et al., doi: 10.1186/s13059-017-1382-0). The markers were further filtered to (1) be expressed in at least 25.0% of cells within the target group, (2) have a fold change &gt;0.5, and (3) be expressed in less than 80.0% cells outside the target group. Condition specific markers were identified by applying the same function and filter to each group split by condition. Cell groups were annotated using the SC-Frameworks MarkerRepo (https://gitlab.gwdg.de/loosolab/software/annotate_by_marker_and_features), a tool to identify cell types based on matches between marker genes and its internal database.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Zebrafish cranial neural crest 1.5 dpf</a:t>
            </a:r>
          </a:p>
        </p:txBody>
      </p:sp>
      <p:sp>
        <p:nvSpPr>
          <p:cNvPr id="3" name="Text Placeholder 2"/>
          <p:cNvSpPr>
            <a:spLocks noGrp="1"/>
          </p:cNvSpPr>
          <p:nvPr>
            <p:ph type="body" idx="11" sz="quarter"/>
          </p:nvPr>
        </p:nvSpPr>
        <p:spPr/>
        <p:txBody>
          <a:bodyPr/>
          <a:lstStyle/>
          <a:p>
            <a:r>
              <a:t>SC-Framework Analysis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Assembly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Assembly</a:t>
            </a:r>
          </a:p>
        </p:txBody>
      </p:sp>
      <p:pic>
        <p:nvPicPr>
          <p:cNvPr id="3" name="Picture 2" descr="01_assembly.png"/>
          <p:cNvPicPr>
            <a:picLocks noChangeAspect="1"/>
          </p:cNvPicPr>
          <p:nvPr/>
        </p:nvPicPr>
        <p:blipFill>
          <a:blip r:embed="rId3"/>
          <a:stretch>
            <a:fillRect/>
          </a:stretch>
        </p:blipFill>
        <p:spPr>
          <a:xfrm>
            <a:off x="720000" y="1628720"/>
            <a:ext cx="5047841" cy="857320"/>
          </a:xfrm>
          <a:prstGeom prst="rect">
            <a:avLst/>
          </a:prstGeom>
        </p:spPr>
      </p:pic>
      <p:sp>
        <p:nvSpPr>
          <p:cNvPr id="4" name="TextBox 3"/>
          <p:cNvSpPr txBox="1"/>
          <p:nvPr/>
        </p:nvSpPr>
        <p:spPr>
          <a:xfrm>
            <a:off x="720000" y="2846040"/>
            <a:ext cx="10752000" cy="857320"/>
          </a:xfrm>
          <a:prstGeom prst="rect">
            <a:avLst/>
          </a:prstGeom>
          <a:noFill/>
        </p:spPr>
        <p:txBody>
          <a:bodyPr wrap="square" anchor="ctr">
            <a:spAutoFit/>
          </a:bodyPr>
          <a:lstStyle/>
          <a:p>
            <a:pPr algn="l"/>
            <a:r>
              <a:rPr b="0" i="0" sz="3200">
                <a:latin typeface="Calibri"/>
              </a:rPr>
              <a:t>Dataset</a:t>
            </a:r>
            <a:r>
              <a:rPr sz="1800">
                <a:latin typeface="Calibri"/>
              </a:rPr>
              <a:t>
</a:t>
            </a:r>
            <a:r>
              <a:rPr b="0" i="0" sz="1800">
                <a:latin typeface="Calibri"/>
              </a:rPr>
              <a:t>3883 observations x 32524 variables</a:t>
            </a:r>
            <a:r>
              <a:rPr sz="1800">
                <a:latin typeface="Calibri"/>
              </a:rPr>
              <a:t>
</a:t>
            </a:r>
            <a:r>
              <a:rPr b="0" i="0" sz="1800">
                <a:latin typeface="Calibri"/>
              </a:rPr>
              <a:t>Observation information: paper_cluster, filename, sample, timepoint, batch, Paper cell type, Spatial expression domain</a:t>
            </a:r>
            <a:r>
              <a:rPr sz="1800">
                <a:latin typeface="Calibri"/>
              </a:rPr>
              <a:t>
</a:t>
            </a:r>
            <a:r>
              <a:rPr b="0" i="0" sz="1800">
                <a:latin typeface="Calibri"/>
              </a:rPr>
              <a:t>Variable information: gene_id</a:t>
            </a:r>
            <a:r>
              <a:rPr sz="1800">
                <a:latin typeface="Calibri"/>
              </a:rPr>
              <a:t>
</a:t>
            </a:r>
            <a:r>
              <a:rPr b="0" i="0" sz="1800">
                <a:latin typeface="Calibri"/>
              </a:rPr>
              <a:t/>
            </a:r>
          </a:p>
        </p:txBody>
      </p:sp>
      <p:pic>
        <p:nvPicPr>
          <p:cNvPr id="5" name="Picture 4" descr="01_obs.png"/>
          <p:cNvPicPr>
            <a:picLocks noChangeAspect="1"/>
          </p:cNvPicPr>
          <p:nvPr/>
        </p:nvPicPr>
        <p:blipFill>
          <a:blip r:embed="rId4"/>
          <a:stretch>
            <a:fillRect/>
          </a:stretch>
        </p:blipFill>
        <p:spPr>
          <a:xfrm>
            <a:off x="720000" y="4063360"/>
            <a:ext cx="6152695" cy="857320"/>
          </a:xfrm>
          <a:prstGeom prst="rect">
            <a:avLst/>
          </a:prstGeom>
        </p:spPr>
      </p:pic>
      <p:pic>
        <p:nvPicPr>
          <p:cNvPr id="6" name="Picture 5" descr="01_var.png"/>
          <p:cNvPicPr>
            <a:picLocks noChangeAspect="1"/>
          </p:cNvPicPr>
          <p:nvPr/>
        </p:nvPicPr>
        <p:blipFill>
          <a:blip r:embed="rId5"/>
          <a:stretch>
            <a:fillRect/>
          </a:stretch>
        </p:blipFill>
        <p:spPr>
          <a:xfrm>
            <a:off x="720000" y="5280680"/>
            <a:ext cx="1335307" cy="8573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Quality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Gender prediction</a:t>
            </a:r>
          </a:p>
        </p:txBody>
      </p:sp>
      <p:pic>
        <p:nvPicPr>
          <p:cNvPr id="3" name="Picture 2" descr="01_female_prediction.png"/>
          <p:cNvPicPr>
            <a:picLocks noChangeAspect="1"/>
          </p:cNvPicPr>
          <p:nvPr/>
        </p:nvPicPr>
        <p:blipFill>
          <a:blip r:embed="rId3"/>
          <a:stretch>
            <a:fillRect/>
          </a:stretch>
        </p:blipFill>
        <p:spPr>
          <a:xfrm>
            <a:off x="3625331" y="1628720"/>
            <a:ext cx="4941336" cy="45092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filter I</a:t>
            </a:r>
          </a:p>
        </p:txBody>
      </p:sp>
      <p:pic>
        <p:nvPicPr>
          <p:cNvPr id="3" name="Picture 2" descr="02_cell_filter.png"/>
          <p:cNvPicPr>
            <a:picLocks noChangeAspect="1"/>
          </p:cNvPicPr>
          <p:nvPr/>
        </p:nvPicPr>
        <p:blipFill>
          <a:blip r:embed="rId3"/>
          <a:stretch>
            <a:fillRect/>
          </a:stretch>
        </p:blipFill>
        <p:spPr>
          <a:xfrm>
            <a:off x="720000" y="2160820"/>
            <a:ext cx="5196000" cy="3445078"/>
          </a:xfrm>
          <a:prstGeom prst="rect">
            <a:avLst/>
          </a:prstGeom>
        </p:spPr>
      </p:pic>
      <p:pic>
        <p:nvPicPr>
          <p:cNvPr id="4" name="Picture 3" descr="02_cell_filter_info.png"/>
          <p:cNvPicPr>
            <a:picLocks noChangeAspect="1"/>
          </p:cNvPicPr>
          <p:nvPr/>
        </p:nvPicPr>
        <p:blipFill>
          <a:blip r:embed="rId4"/>
          <a:stretch>
            <a:fillRect/>
          </a:stretch>
        </p:blipFill>
        <p:spPr>
          <a:xfrm>
            <a:off x="6276000" y="2957533"/>
            <a:ext cx="5196000" cy="185165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filter II</a:t>
            </a:r>
          </a:p>
        </p:txBody>
      </p:sp>
      <p:pic>
        <p:nvPicPr>
          <p:cNvPr id="3" name="Picture 2" descr="03_cell_filter_scatter.png"/>
          <p:cNvPicPr>
            <a:picLocks noChangeAspect="1"/>
          </p:cNvPicPr>
          <p:nvPr/>
        </p:nvPicPr>
        <p:blipFill>
          <a:blip r:embed="rId3"/>
          <a:stretch>
            <a:fillRect/>
          </a:stretch>
        </p:blipFill>
        <p:spPr>
          <a:xfrm>
            <a:off x="3508352" y="1628720"/>
            <a:ext cx="5175294" cy="45092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filter III</a:t>
            </a:r>
          </a:p>
        </p:txBody>
      </p:sp>
      <p:pic>
        <p:nvPicPr>
          <p:cNvPr id="3" name="Picture 2" descr="04_cell_filter_impact.png"/>
          <p:cNvPicPr>
            <a:picLocks noChangeAspect="1"/>
          </p:cNvPicPr>
          <p:nvPr/>
        </p:nvPicPr>
        <p:blipFill>
          <a:blip r:embed="rId3"/>
          <a:stretch>
            <a:fillRect/>
          </a:stretch>
        </p:blipFill>
        <p:spPr>
          <a:xfrm>
            <a:off x="3705194" y="1628720"/>
            <a:ext cx="4781610" cy="3031424"/>
          </a:xfrm>
          <a:prstGeom prst="rect">
            <a:avLst/>
          </a:prstGeom>
        </p:spPr>
      </p:pic>
      <p:sp>
        <p:nvSpPr>
          <p:cNvPr id="4" name="TextBox 3"/>
          <p:cNvSpPr txBox="1"/>
          <p:nvPr/>
        </p:nvSpPr>
        <p:spPr>
          <a:xfrm>
            <a:off x="720000" y="5020144"/>
            <a:ext cx="10752000" cy="378928"/>
          </a:xfrm>
          <a:prstGeom prst="rect">
            <a:avLst/>
          </a:prstGeom>
          <a:noFill/>
        </p:spPr>
        <p:txBody>
          <a:bodyPr wrap="square" anchor="ctr">
            <a:spAutoFit/>
          </a:bodyPr>
          <a:lstStyle/>
          <a:p>
            <a:pPr algn="ctr"/>
            <a:r>
              <a:rPr b="0" i="0" sz="1800">
                <a:latin typeface="Calibri"/>
              </a:rPr>
              <a:t>Filtered 38 doublet elements from AnnData.obs (3883 -&gt; 3845).</a:t>
            </a:r>
          </a:p>
        </p:txBody>
      </p:sp>
      <p:sp>
        <p:nvSpPr>
          <p:cNvPr id="5" name="TextBox 4"/>
          <p:cNvSpPr txBox="1"/>
          <p:nvPr/>
        </p:nvSpPr>
        <p:spPr>
          <a:xfrm>
            <a:off x="720000" y="5759072"/>
            <a:ext cx="10752000" cy="378928"/>
          </a:xfrm>
          <a:prstGeom prst="rect">
            <a:avLst/>
          </a:prstGeom>
          <a:noFill/>
        </p:spPr>
        <p:txBody>
          <a:bodyPr wrap="square" anchor="ctr">
            <a:spAutoFit/>
          </a:bodyPr>
          <a:lstStyle/>
          <a:p>
            <a:pPr algn="ctr"/>
            <a:r>
              <a:rPr b="0" i="0" sz="1800">
                <a:latin typeface="Calibri"/>
              </a:rPr>
              <a:t>Filtered 825 threshold elements from AnnData.obs (3845 -&gt; 3020).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 filter I</a:t>
            </a:r>
          </a:p>
        </p:txBody>
      </p:sp>
      <p:pic>
        <p:nvPicPr>
          <p:cNvPr id="3" name="Picture 2" descr="05_gene_filter.png"/>
          <p:cNvPicPr>
            <a:picLocks noChangeAspect="1"/>
          </p:cNvPicPr>
          <p:nvPr/>
        </p:nvPicPr>
        <p:blipFill>
          <a:blip r:embed="rId3"/>
          <a:stretch>
            <a:fillRect/>
          </a:stretch>
        </p:blipFill>
        <p:spPr>
          <a:xfrm>
            <a:off x="1253811" y="1628720"/>
            <a:ext cx="4128376" cy="2074640"/>
          </a:xfrm>
          <a:prstGeom prst="rect">
            <a:avLst/>
          </a:prstGeom>
        </p:spPr>
      </p:pic>
      <p:sp>
        <p:nvSpPr>
          <p:cNvPr id="4" name="TextBox 3"/>
          <p:cNvSpPr txBox="1"/>
          <p:nvPr/>
        </p:nvSpPr>
        <p:spPr>
          <a:xfrm>
            <a:off x="6276000" y="1628720"/>
            <a:ext cx="5196000" cy="2074640"/>
          </a:xfrm>
          <a:prstGeom prst="rect">
            <a:avLst/>
          </a:prstGeom>
          <a:noFill/>
        </p:spPr>
        <p:txBody>
          <a:bodyPr wrap="square" anchor="ctr">
            <a:spAutoFit/>
          </a:bodyPr>
          <a:lstStyle/>
          <a:p>
            <a:pPr algn="ctr"/>
            <a:r>
              <a:rPr b="0" i="0" sz="1800">
                <a:latin typeface="Calibri"/>
              </a:rPr>
              <a:t>Filtered 0 threshold elements from AnnData.var (19581 -&gt; 19581).</a:t>
            </a:r>
          </a:p>
        </p:txBody>
      </p:sp>
      <p:pic>
        <p:nvPicPr>
          <p:cNvPr id="5" name="Picture 4" descr="05_gene_filter_table.png"/>
          <p:cNvPicPr>
            <a:picLocks noChangeAspect="1"/>
          </p:cNvPicPr>
          <p:nvPr/>
        </p:nvPicPr>
        <p:blipFill>
          <a:blip r:embed="rId4"/>
          <a:stretch>
            <a:fillRect/>
          </a:stretch>
        </p:blipFill>
        <p:spPr>
          <a:xfrm>
            <a:off x="720000" y="4554083"/>
            <a:ext cx="5196000" cy="1093193"/>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 filter II</a:t>
            </a:r>
          </a:p>
        </p:txBody>
      </p:sp>
      <p:pic>
        <p:nvPicPr>
          <p:cNvPr id="3" name="Picture 2" descr="06_gene_labels.png"/>
          <p:cNvPicPr>
            <a:picLocks noChangeAspect="1"/>
          </p:cNvPicPr>
          <p:nvPr/>
        </p:nvPicPr>
        <p:blipFill>
          <a:blip r:embed="rId3"/>
          <a:stretch>
            <a:fillRect/>
          </a:stretch>
        </p:blipFill>
        <p:spPr>
          <a:xfrm>
            <a:off x="3117670" y="1628720"/>
            <a:ext cx="5956659" cy="3630620"/>
          </a:xfrm>
          <a:prstGeom prst="rect">
            <a:avLst/>
          </a:prstGeom>
        </p:spPr>
      </p:pic>
      <p:sp>
        <p:nvSpPr>
          <p:cNvPr id="4" name="TextBox 3"/>
          <p:cNvSpPr txBox="1"/>
          <p:nvPr/>
        </p:nvSpPr>
        <p:spPr>
          <a:xfrm>
            <a:off x="720000" y="5619340"/>
            <a:ext cx="10752000" cy="518660"/>
          </a:xfrm>
          <a:prstGeom prst="rect">
            <a:avLst/>
          </a:prstGeom>
          <a:noFill/>
        </p:spPr>
        <p:txBody>
          <a:bodyPr wrap="square" anchor="ctr">
            <a:spAutoFit/>
          </a:bodyPr>
          <a:lstStyle/>
          <a:p>
            <a:pPr algn="ctr"/>
            <a:r>
              <a:rPr b="0" i="0" sz="1800">
                <a:latin typeface="Calibri"/>
              </a:rPr>
              <a:t>The genes were identified but not removed.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Normalization and Noise Reduction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Cycle</a:t>
            </a:r>
          </a:p>
        </p:txBody>
      </p:sp>
      <p:pic>
        <p:nvPicPr>
          <p:cNvPr id="3" name="Picture 2" descr="01_cell_cycle_prediction.png"/>
          <p:cNvPicPr>
            <a:picLocks noChangeAspect="1"/>
          </p:cNvPicPr>
          <p:nvPr/>
        </p:nvPicPr>
        <p:blipFill>
          <a:blip r:embed="rId3"/>
          <a:stretch>
            <a:fillRect/>
          </a:stretch>
        </p:blipFill>
        <p:spPr>
          <a:xfrm>
            <a:off x="720000" y="1999556"/>
            <a:ext cx="10752000" cy="376760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PCA</a:t>
            </a:r>
          </a:p>
        </p:txBody>
      </p:sp>
      <p:pic>
        <p:nvPicPr>
          <p:cNvPr id="3" name="Picture 2" descr="02_PCA_correlation_2D.png"/>
          <p:cNvPicPr>
            <a:picLocks noChangeAspect="1"/>
          </p:cNvPicPr>
          <p:nvPr/>
        </p:nvPicPr>
        <p:blipFill>
          <a:blip r:embed="rId3"/>
          <a:stretch>
            <a:fillRect/>
          </a:stretch>
        </p:blipFill>
        <p:spPr>
          <a:xfrm>
            <a:off x="1993415" y="1628720"/>
            <a:ext cx="8205169" cy="450928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PCA - component subset</a:t>
            </a:r>
          </a:p>
        </p:txBody>
      </p:sp>
      <p:pic>
        <p:nvPicPr>
          <p:cNvPr id="3" name="Picture 2" descr="03_pca_variance_subset.png"/>
          <p:cNvPicPr>
            <a:picLocks noChangeAspect="1"/>
          </p:cNvPicPr>
          <p:nvPr/>
        </p:nvPicPr>
        <p:blipFill>
          <a:blip r:embed="rId3"/>
          <a:stretch>
            <a:fillRect/>
          </a:stretch>
        </p:blipFill>
        <p:spPr>
          <a:xfrm>
            <a:off x="3155765" y="1628720"/>
            <a:ext cx="5880469" cy="450928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Batch correction</a:t>
            </a:r>
          </a:p>
        </p:txBody>
      </p:sp>
      <p:sp>
        <p:nvSpPr>
          <p:cNvPr id="3" name="TextBox 2"/>
          <p:cNvSpPr txBox="1"/>
          <p:nvPr/>
        </p:nvSpPr>
        <p:spPr>
          <a:xfrm>
            <a:off x="720000" y="1628720"/>
            <a:ext cx="4156800" cy="4509280"/>
          </a:xfrm>
          <a:prstGeom prst="rect">
            <a:avLst/>
          </a:prstGeom>
          <a:noFill/>
        </p:spPr>
        <p:txBody>
          <a:bodyPr wrap="square" anchor="ctr">
            <a:spAutoFit/>
          </a:bodyPr>
          <a:lstStyle/>
          <a:p>
            <a:pPr algn="ctr"/>
            <a:r>
              <a:rPr b="0" i="0" sz="1800">
                <a:latin typeface="Calibri"/>
              </a:rPr>
              <a:t>Selected </a:t>
            </a:r>
            <a:r>
              <a:rPr b="1" i="0" sz="1800">
                <a:latin typeface="Calibri"/>
              </a:rPr>
              <a:t>uncorrected</a:t>
            </a:r>
            <a:r>
              <a:rPr b="0" i="0" sz="1800">
                <a:latin typeface="Calibri"/>
              </a:rPr>
              <a:t> batch correction method.</a:t>
            </a:r>
          </a:p>
        </p:txBody>
      </p:sp>
      <p:pic>
        <p:nvPicPr>
          <p:cNvPr id="4" name="Picture 3" descr="04_batchcorrections_overview.png"/>
          <p:cNvPicPr>
            <a:picLocks noChangeAspect="1"/>
          </p:cNvPicPr>
          <p:nvPr/>
        </p:nvPicPr>
        <p:blipFill>
          <a:blip r:embed="rId3"/>
          <a:stretch>
            <a:fillRect/>
          </a:stretch>
        </p:blipFill>
        <p:spPr>
          <a:xfrm>
            <a:off x="8028536" y="1628720"/>
            <a:ext cx="651726" cy="450928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and Clustering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I</a:t>
            </a:r>
          </a:p>
        </p:txBody>
      </p:sp>
      <p:pic>
        <p:nvPicPr>
          <p:cNvPr id="3" name="Picture 2" descr="01_embedding_quality.png"/>
          <p:cNvPicPr>
            <a:picLocks noChangeAspect="1"/>
          </p:cNvPicPr>
          <p:nvPr/>
        </p:nvPicPr>
        <p:blipFill>
          <a:blip r:embed="rId3"/>
          <a:stretch>
            <a:fillRect/>
          </a:stretch>
        </p:blipFill>
        <p:spPr>
          <a:xfrm>
            <a:off x="720000" y="1948230"/>
            <a:ext cx="7274400" cy="3870259"/>
          </a:xfrm>
          <a:prstGeom prst="rect">
            <a:avLst/>
          </a:prstGeom>
        </p:spPr>
      </p:pic>
      <p:pic>
        <p:nvPicPr>
          <p:cNvPr id="4" name="Picture 3" descr="01_embedding_umap.png"/>
          <p:cNvPicPr>
            <a:picLocks noChangeAspect="1"/>
          </p:cNvPicPr>
          <p:nvPr/>
        </p:nvPicPr>
        <p:blipFill>
          <a:blip r:embed="rId4"/>
          <a:stretch>
            <a:fillRect/>
          </a:stretch>
        </p:blipFill>
        <p:spPr>
          <a:xfrm>
            <a:off x="8354400" y="3298179"/>
            <a:ext cx="3117600" cy="117036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II</a:t>
            </a:r>
          </a:p>
        </p:txBody>
      </p:sp>
      <p:pic>
        <p:nvPicPr>
          <p:cNvPr id="3" name="Picture 2" descr="02_embedding_sample_distribution.png"/>
          <p:cNvPicPr>
            <a:picLocks noChangeAspect="1"/>
          </p:cNvPicPr>
          <p:nvPr/>
        </p:nvPicPr>
        <p:blipFill>
          <a:blip r:embed="rId3"/>
          <a:stretch>
            <a:fillRect/>
          </a:stretch>
        </p:blipFill>
        <p:spPr>
          <a:xfrm>
            <a:off x="4067061" y="1628720"/>
            <a:ext cx="4057876" cy="450928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Clustering I</a:t>
            </a:r>
          </a:p>
        </p:txBody>
      </p:sp>
      <p:pic>
        <p:nvPicPr>
          <p:cNvPr id="3" name="Picture 2" descr="03_embedding_clustering.png"/>
          <p:cNvPicPr>
            <a:picLocks noChangeAspect="1"/>
          </p:cNvPicPr>
          <p:nvPr/>
        </p:nvPicPr>
        <p:blipFill>
          <a:blip r:embed="rId3"/>
          <a:stretch>
            <a:fillRect/>
          </a:stretch>
        </p:blipFill>
        <p:spPr>
          <a:xfrm>
            <a:off x="720000" y="1915972"/>
            <a:ext cx="10752000" cy="3934774"/>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Clustering II</a:t>
            </a:r>
          </a:p>
        </p:txBody>
      </p:sp>
      <p:pic>
        <p:nvPicPr>
          <p:cNvPr id="3" name="Picture 2" descr="04_cell_distribution_barplot.png"/>
          <p:cNvPicPr>
            <a:picLocks noChangeAspect="1"/>
          </p:cNvPicPr>
          <p:nvPr/>
        </p:nvPicPr>
        <p:blipFill>
          <a:blip r:embed="rId3"/>
          <a:stretch>
            <a:fillRect/>
          </a:stretch>
        </p:blipFill>
        <p:spPr>
          <a:xfrm>
            <a:off x="720000" y="2035794"/>
            <a:ext cx="10752000" cy="3695131"/>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Marker prediction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Marker Genes</a:t>
            </a:r>
          </a:p>
        </p:txBody>
      </p:sp>
      <p:pic>
        <p:nvPicPr>
          <p:cNvPr id="3" name="Picture 2" descr="01_marker_dots_leiden_1.1.png"/>
          <p:cNvPicPr>
            <a:picLocks noChangeAspect="1"/>
          </p:cNvPicPr>
          <p:nvPr/>
        </p:nvPicPr>
        <p:blipFill>
          <a:blip r:embed="rId3"/>
          <a:stretch>
            <a:fillRect/>
          </a:stretch>
        </p:blipFill>
        <p:spPr>
          <a:xfrm>
            <a:off x="720000" y="2195497"/>
            <a:ext cx="10752000" cy="941085"/>
          </a:xfrm>
          <a:prstGeom prst="rect">
            <a:avLst/>
          </a:prstGeom>
        </p:spPr>
      </p:pic>
      <p:pic>
        <p:nvPicPr>
          <p:cNvPr id="4" name="Picture 3" descr="01_marker_heatmap_leiden_1.1.png"/>
          <p:cNvPicPr>
            <a:picLocks noChangeAspect="1"/>
          </p:cNvPicPr>
          <p:nvPr/>
        </p:nvPicPr>
        <p:blipFill>
          <a:blip r:embed="rId4"/>
          <a:stretch>
            <a:fillRect/>
          </a:stretch>
        </p:blipFill>
        <p:spPr>
          <a:xfrm>
            <a:off x="720000" y="4630337"/>
            <a:ext cx="10752000" cy="940685"/>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Marker Expression per Group I</a:t>
            </a:r>
          </a:p>
        </p:txBody>
      </p:sp>
      <p:pic>
        <p:nvPicPr>
          <p:cNvPr id="3" name="Picture 2" descr="02_umap_clustering_leiden_1.1_top_5_markers.png"/>
          <p:cNvPicPr>
            <a:picLocks noChangeAspect="1"/>
          </p:cNvPicPr>
          <p:nvPr/>
        </p:nvPicPr>
        <p:blipFill>
          <a:blip r:embed="rId3"/>
          <a:stretch>
            <a:fillRect/>
          </a:stretch>
        </p:blipFill>
        <p:spPr>
          <a:xfrm>
            <a:off x="5043308" y="1628720"/>
            <a:ext cx="2105383" cy="450928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Marker Expression per Group II</a:t>
            </a:r>
          </a:p>
        </p:txBody>
      </p:sp>
      <p:pic>
        <p:nvPicPr>
          <p:cNvPr id="3" name="Picture 2" descr="03_umap_clustering_leiden_1.1_top_5_markers_binarized.png"/>
          <p:cNvPicPr>
            <a:picLocks noChangeAspect="1"/>
          </p:cNvPicPr>
          <p:nvPr/>
        </p:nvPicPr>
        <p:blipFill>
          <a:blip r:embed="rId3"/>
          <a:stretch>
            <a:fillRect/>
          </a:stretch>
        </p:blipFill>
        <p:spPr>
          <a:xfrm>
            <a:off x="5014837" y="1628720"/>
            <a:ext cx="2162325" cy="450928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Condition Markers</a:t>
            </a:r>
          </a:p>
        </p:txBody>
      </p:sp>
      <p:pic>
        <p:nvPicPr>
          <p:cNvPr id="3" name="Picture 2" descr="07_dots_Spatial expression domain_cluster_8.png"/>
          <p:cNvPicPr>
            <a:picLocks noChangeAspect="1"/>
          </p:cNvPicPr>
          <p:nvPr/>
        </p:nvPicPr>
        <p:blipFill>
          <a:blip r:embed="rId3"/>
          <a:stretch>
            <a:fillRect/>
          </a:stretch>
        </p:blipFill>
        <p:spPr>
          <a:xfrm>
            <a:off x="1276950" y="1628720"/>
            <a:ext cx="4082099" cy="613856"/>
          </a:xfrm>
          <a:prstGeom prst="rect">
            <a:avLst/>
          </a:prstGeom>
        </p:spPr>
      </p:pic>
      <p:pic>
        <p:nvPicPr>
          <p:cNvPr id="4" name="Picture 3" descr="07_dots_Spatial expression domain_cluster_10.png"/>
          <p:cNvPicPr>
            <a:picLocks noChangeAspect="1"/>
          </p:cNvPicPr>
          <p:nvPr/>
        </p:nvPicPr>
        <p:blipFill>
          <a:blip r:embed="rId4"/>
          <a:stretch>
            <a:fillRect/>
          </a:stretch>
        </p:blipFill>
        <p:spPr>
          <a:xfrm>
            <a:off x="7067562" y="1628720"/>
            <a:ext cx="3612875" cy="613856"/>
          </a:xfrm>
          <a:prstGeom prst="rect">
            <a:avLst/>
          </a:prstGeom>
        </p:spPr>
      </p:pic>
      <p:pic>
        <p:nvPicPr>
          <p:cNvPr id="5" name="Picture 4" descr="07_dots_Spatial expression domain_cluster_1.png"/>
          <p:cNvPicPr>
            <a:picLocks noChangeAspect="1"/>
          </p:cNvPicPr>
          <p:nvPr/>
        </p:nvPicPr>
        <p:blipFill>
          <a:blip r:embed="rId5"/>
          <a:stretch>
            <a:fillRect/>
          </a:stretch>
        </p:blipFill>
        <p:spPr>
          <a:xfrm>
            <a:off x="1276950" y="2602576"/>
            <a:ext cx="4082099" cy="613856"/>
          </a:xfrm>
          <a:prstGeom prst="rect">
            <a:avLst/>
          </a:prstGeom>
        </p:spPr>
      </p:pic>
      <p:pic>
        <p:nvPicPr>
          <p:cNvPr id="6" name="Picture 5" descr="07_dots_Spatial expression domain_cluster_6.png"/>
          <p:cNvPicPr>
            <a:picLocks noChangeAspect="1"/>
          </p:cNvPicPr>
          <p:nvPr/>
        </p:nvPicPr>
        <p:blipFill>
          <a:blip r:embed="rId6"/>
          <a:stretch>
            <a:fillRect/>
          </a:stretch>
        </p:blipFill>
        <p:spPr>
          <a:xfrm>
            <a:off x="7288378" y="2602576"/>
            <a:ext cx="3171242" cy="613856"/>
          </a:xfrm>
          <a:prstGeom prst="rect">
            <a:avLst/>
          </a:prstGeom>
        </p:spPr>
      </p:pic>
      <p:pic>
        <p:nvPicPr>
          <p:cNvPr id="7" name="Picture 6" descr="07_dots_Spatial expression domain_cluster_7.png"/>
          <p:cNvPicPr>
            <a:picLocks noChangeAspect="1"/>
          </p:cNvPicPr>
          <p:nvPr/>
        </p:nvPicPr>
        <p:blipFill>
          <a:blip r:embed="rId7"/>
          <a:stretch>
            <a:fillRect/>
          </a:stretch>
        </p:blipFill>
        <p:spPr>
          <a:xfrm>
            <a:off x="1508837" y="3576432"/>
            <a:ext cx="3618324" cy="613856"/>
          </a:xfrm>
          <a:prstGeom prst="rect">
            <a:avLst/>
          </a:prstGeom>
        </p:spPr>
      </p:pic>
      <p:pic>
        <p:nvPicPr>
          <p:cNvPr id="8" name="Picture 7" descr="07_dots_Spatial expression domain_cluster_16.png"/>
          <p:cNvPicPr>
            <a:picLocks noChangeAspect="1"/>
          </p:cNvPicPr>
          <p:nvPr/>
        </p:nvPicPr>
        <p:blipFill>
          <a:blip r:embed="rId8"/>
          <a:stretch>
            <a:fillRect/>
          </a:stretch>
        </p:blipFill>
        <p:spPr>
          <a:xfrm>
            <a:off x="7396360" y="3576432"/>
            <a:ext cx="2955278" cy="613856"/>
          </a:xfrm>
          <a:prstGeom prst="rect">
            <a:avLst/>
          </a:prstGeom>
        </p:spPr>
      </p:pic>
      <p:pic>
        <p:nvPicPr>
          <p:cNvPr id="9" name="Picture 8" descr="07_dots_Spatial expression domain_cluster_9.png"/>
          <p:cNvPicPr>
            <a:picLocks noChangeAspect="1"/>
          </p:cNvPicPr>
          <p:nvPr/>
        </p:nvPicPr>
        <p:blipFill>
          <a:blip r:embed="rId9"/>
          <a:stretch>
            <a:fillRect/>
          </a:stretch>
        </p:blipFill>
        <p:spPr>
          <a:xfrm>
            <a:off x="1276950" y="4550288"/>
            <a:ext cx="4082099" cy="613856"/>
          </a:xfrm>
          <a:prstGeom prst="rect">
            <a:avLst/>
          </a:prstGeom>
        </p:spPr>
      </p:pic>
      <p:pic>
        <p:nvPicPr>
          <p:cNvPr id="10" name="Picture 9" descr="07_dots_Spatial expression domain_cluster_11.png"/>
          <p:cNvPicPr>
            <a:picLocks noChangeAspect="1"/>
          </p:cNvPicPr>
          <p:nvPr/>
        </p:nvPicPr>
        <p:blipFill>
          <a:blip r:embed="rId10"/>
          <a:stretch>
            <a:fillRect/>
          </a:stretch>
        </p:blipFill>
        <p:spPr>
          <a:xfrm>
            <a:off x="7347871" y="4550288"/>
            <a:ext cx="3052256" cy="613856"/>
          </a:xfrm>
          <a:prstGeom prst="rect">
            <a:avLst/>
          </a:prstGeom>
        </p:spPr>
      </p:pic>
      <p:pic>
        <p:nvPicPr>
          <p:cNvPr id="11" name="Picture 10" descr="07_dots_Spatial expression domain_cluster_4.png"/>
          <p:cNvPicPr>
            <a:picLocks noChangeAspect="1"/>
          </p:cNvPicPr>
          <p:nvPr/>
        </p:nvPicPr>
        <p:blipFill>
          <a:blip r:embed="rId11"/>
          <a:stretch>
            <a:fillRect/>
          </a:stretch>
        </p:blipFill>
        <p:spPr>
          <a:xfrm>
            <a:off x="1817851" y="5524144"/>
            <a:ext cx="3000296" cy="613856"/>
          </a:xfrm>
          <a:prstGeom prst="rect">
            <a:avLst/>
          </a:prstGeom>
        </p:spPr>
      </p:pic>
      <p:pic>
        <p:nvPicPr>
          <p:cNvPr id="12" name="Picture 11" descr="07_dots_Spatial expression domain_cluster_15.png"/>
          <p:cNvPicPr>
            <a:picLocks noChangeAspect="1"/>
          </p:cNvPicPr>
          <p:nvPr/>
        </p:nvPicPr>
        <p:blipFill>
          <a:blip r:embed="rId12"/>
          <a:stretch>
            <a:fillRect/>
          </a:stretch>
        </p:blipFill>
        <p:spPr>
          <a:xfrm>
            <a:off x="7203434" y="5524144"/>
            <a:ext cx="3341130" cy="61385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Type Annotation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Type Annotation</a:t>
            </a:r>
          </a:p>
        </p:txBody>
      </p:sp>
      <p:pic>
        <p:nvPicPr>
          <p:cNvPr id="3" name="Picture 2" descr="01_marker_genes_dots_leiden_1.1.png"/>
          <p:cNvPicPr>
            <a:picLocks noChangeAspect="1"/>
          </p:cNvPicPr>
          <p:nvPr/>
        </p:nvPicPr>
        <p:blipFill>
          <a:blip r:embed="rId3"/>
          <a:stretch>
            <a:fillRect/>
          </a:stretch>
        </p:blipFill>
        <p:spPr>
          <a:xfrm>
            <a:off x="720000" y="1965951"/>
            <a:ext cx="10752000" cy="1400176"/>
          </a:xfrm>
          <a:prstGeom prst="rect">
            <a:avLst/>
          </a:prstGeom>
        </p:spPr>
      </p:pic>
      <p:pic>
        <p:nvPicPr>
          <p:cNvPr id="4" name="Picture 3" descr="01_Comparison_of_cell_type_annotations.png"/>
          <p:cNvPicPr>
            <a:picLocks noChangeAspect="1"/>
          </p:cNvPicPr>
          <p:nvPr/>
        </p:nvPicPr>
        <p:blipFill>
          <a:blip r:embed="rId4"/>
          <a:stretch>
            <a:fillRect/>
          </a:stretch>
        </p:blipFill>
        <p:spPr>
          <a:xfrm>
            <a:off x="720000" y="4181743"/>
            <a:ext cx="10752000" cy="1837873"/>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Cell Type Annotation</a:t>
            </a:r>
          </a:p>
        </p:txBody>
      </p:sp>
      <p:pic>
        <p:nvPicPr>
          <p:cNvPr id="3" name="Picture 2" descr="02_compare_annotations.png"/>
          <p:cNvPicPr>
            <a:picLocks noChangeAspect="1"/>
          </p:cNvPicPr>
          <p:nvPr/>
        </p:nvPicPr>
        <p:blipFill>
          <a:blip r:embed="rId3"/>
          <a:stretch>
            <a:fillRect/>
          </a:stretch>
        </p:blipFill>
        <p:spPr>
          <a:xfrm>
            <a:off x="4527263" y="1628720"/>
            <a:ext cx="3137472" cy="4509280"/>
          </a:xfrm>
          <a:prstGeom prst="rect">
            <a:avLst/>
          </a:prstGeom>
        </p:spPr>
      </p:pic>
    </p:spTree>
  </p:cSld>
  <p:clrMapOvr>
    <a:masterClrMapping/>
  </p:clrMapOvr>
</p:sld>
</file>

<file path=ppt/theme/theme1.xml><?xml version="1.0" encoding="utf-8"?>
<a:theme xmlns:a="http://schemas.openxmlformats.org/drawingml/2006/main" name="BCU v3">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mpi_ppt_template_1</Template>
  <TotalTime>0</TotalTime>
  <Words>689</Words>
  <Application>Microsoft Office PowerPoint</Application>
  <PresentationFormat>Widescreen</PresentationFormat>
  <Paragraphs>41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Tahoma</vt:lpstr>
      <vt:lpstr>BCU v3</vt:lpstr>
      <vt:lpstr>Single Cell RNA analysis report</vt:lpstr>
      <vt:lpstr>Introduction</vt:lpstr>
      <vt:lpstr>Overview</vt:lpstr>
      <vt:lpstr>Terms and Algorithms</vt:lpstr>
      <vt:lpstr>Terms and Algorithms</vt:lpstr>
    </vt:vector>
  </TitlesOfParts>
  <Company>MPI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Wiegandt, Rene</dc:creator>
  <cp:lastModifiedBy>Schultheis, Hendrik</cp:lastModifiedBy>
  <cp:revision>203</cp:revision>
  <dcterms:created xsi:type="dcterms:W3CDTF">2018-09-18T11:01:01Z</dcterms:created>
  <dcterms:modified xsi:type="dcterms:W3CDTF">2025-11-19T12:18:50Z</dcterms:modified>
</cp:coreProperties>
</file>